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131.2</c:v>
                </c:pt>
                <c:pt idx="1">
                  <c:v>82.0</c:v>
                </c:pt>
                <c:pt idx="2">
                  <c:v>102.0</c:v>
                </c:pt>
                <c:pt idx="3">
                  <c:v>97.9</c:v>
                </c:pt>
                <c:pt idx="4">
                  <c:v>138.9</c:v>
                </c:pt>
                <c:pt idx="5">
                  <c:v>134.1</c:v>
                </c:pt>
                <c:pt idx="6">
                  <c:v>151.4</c:v>
                </c:pt>
                <c:pt idx="7">
                  <c:v>87.0</c:v>
                </c:pt>
                <c:pt idx="8">
                  <c:v>113.8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</c:v>
                </c:pt>
              </c:strCache>
            </c:strRef>
          </c:tx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6.952</c:v>
                </c:pt>
                <c:pt idx="1">
                  <c:v>11.14</c:v>
                </c:pt>
                <c:pt idx="2">
                  <c:v>19.328</c:v>
                </c:pt>
                <c:pt idx="3">
                  <c:v>20.247</c:v>
                </c:pt>
                <c:pt idx="4">
                  <c:v>38.118</c:v>
                </c:pt>
                <c:pt idx="5">
                  <c:v>44.453</c:v>
                </c:pt>
                <c:pt idx="6">
                  <c:v>6.739</c:v>
                </c:pt>
                <c:pt idx="7">
                  <c:v>41.781</c:v>
                </c:pt>
                <c:pt idx="8">
                  <c:v>18.031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4.7</c:v>
                </c:pt>
                <c:pt idx="1">
                  <c:v>4.7</c:v>
                </c:pt>
                <c:pt idx="2">
                  <c:v>3.4</c:v>
                </c:pt>
                <c:pt idx="3">
                  <c:v>3.5</c:v>
                </c:pt>
                <c:pt idx="4">
                  <c:v>2.8</c:v>
                </c:pt>
                <c:pt idx="5">
                  <c:v>5.4</c:v>
                </c:pt>
                <c:pt idx="6">
                  <c:v>4.9</c:v>
                </c:pt>
                <c:pt idx="7">
                  <c:v>2.2</c:v>
                </c:pt>
                <c:pt idx="8">
                  <c:v>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Q3 2026 Business &amp; Product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NovaWorks Analytics  |  Quarterly Performance Snapshot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Revenue Trend (USD 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97280"/>
          <a:ext cx="100584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Active Users by Month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97280"/>
          <a:ext cx="100584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Churn Rate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97280"/>
          <a:ext cx="100584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Product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Atlas Core — 183 sprint points, 5 releases this quarter</a:t>
            </a:r>
          </a:p>
          <a:p>
            <a:pPr>
              <a:spcAft>
                <a:spcPts val="1200"/>
              </a:spcAft>
              <a:defRPr sz="2000"/>
            </a:pPr>
            <a:r>
              <a:t>• Nimbus API — 160 sprint points, 6 releases this quarter</a:t>
            </a:r>
          </a:p>
          <a:p>
            <a:pPr>
              <a:spcAft>
                <a:spcPts val="1200"/>
              </a:spcAft>
              <a:defRPr sz="2000"/>
            </a:pPr>
            <a:r>
              <a:t>• Pulse Insights — 270 sprint points, 8 releases this quarter</a:t>
            </a:r>
          </a:p>
          <a:p>
            <a:pPr>
              <a:spcAft>
                <a:spcPts val="1200"/>
              </a:spcAft>
              <a:defRPr sz="2000"/>
            </a:pPr>
            <a:r>
              <a:t>• Orbit Mobile — 305 sprint points, 6 releases this quarter</a:t>
            </a:r>
          </a:p>
          <a:p>
            <a:pPr>
              <a:spcAft>
                <a:spcPts val="1200"/>
              </a:spcAft>
              <a:defRPr sz="2000"/>
            </a:pPr>
            <a:r>
              <a:t>• Zenith Cloud — 218 sprint points, 7 releases this quarter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Outlook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Expand to 3 new markets by 2027</a:t>
            </a:r>
          </a:p>
          <a:p>
            <a:pPr>
              <a:spcAft>
                <a:spcPts val="1200"/>
              </a:spcAft>
              <a:defRPr sz="2000"/>
            </a:pPr>
            <a:r>
              <a:t>• Reduce onboarding friction to cut churn</a:t>
            </a:r>
          </a:p>
          <a:p>
            <a:pPr>
              <a:spcAft>
                <a:spcPts val="1200"/>
              </a:spcAft>
              <a:defRPr sz="2000"/>
            </a:pPr>
            <a:r>
              <a:t>• Ship AI-assisted insights for Pulse</a:t>
            </a:r>
          </a:p>
          <a:p>
            <a:pPr>
              <a:spcAft>
                <a:spcPts val="1200"/>
              </a:spcAft>
              <a:defRPr sz="2000"/>
            </a:pPr>
            <a:r>
              <a:t>• Achieve 99.99% platform uptime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 Intelligence Unit</a:t>
            </a:r>
          </a:p>
          <a:p>
            <a:pPr>
              <a:spcAft>
                <a:spcPts val="1200"/>
              </a:spcAft>
              <a:defRPr sz="2000"/>
            </a:pPr>
            <a:r>
              <a:t>NovaWorks Analytics · analytics@novaworks.example</a:t>
            </a:r>
          </a:p>
          <a:p>
            <a:pPr>
              <a:spcAft>
                <a:spcPts val="1200"/>
              </a:spcAft>
              <a:defRPr sz="2000"/>
            </a:pPr>
            <a:r>
              <a:t>All figures are illustrative sample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